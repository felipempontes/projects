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10997C-1D51-AEC9-D91E-8C5796AFD9EE}" v="28" dt="2026-01-28T14:10:52.8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Trindade Ribeiro de Sousa" userId="S::sam.sousa.t0131751@edu.atec.pt::230a0079-7e05-4953-a7d0-fa222974c2a9" providerId="AD" clId="Web-{B410997C-1D51-AEC9-D91E-8C5796AFD9EE}"/>
    <pc:docChg chg="addSld delSld modSld">
      <pc:chgData name="Sam Trindade Ribeiro de Sousa" userId="S::sam.sousa.t0131751@edu.atec.pt::230a0079-7e05-4953-a7d0-fa222974c2a9" providerId="AD" clId="Web-{B410997C-1D51-AEC9-D91E-8C5796AFD9EE}" dt="2026-01-28T14:10:52.851" v="27" actId="20577"/>
      <pc:docMkLst>
        <pc:docMk/>
      </pc:docMkLst>
      <pc:sldChg chg="modTransition">
        <pc:chgData name="Sam Trindade Ribeiro de Sousa" userId="S::sam.sousa.t0131751@edu.atec.pt::230a0079-7e05-4953-a7d0-fa222974c2a9" providerId="AD" clId="Web-{B410997C-1D51-AEC9-D91E-8C5796AFD9EE}" dt="2026-01-28T13:55:46.768" v="10"/>
        <pc:sldMkLst>
          <pc:docMk/>
          <pc:sldMk cId="0" sldId="256"/>
        </pc:sldMkLst>
      </pc:sldChg>
      <pc:sldChg chg="modTransition">
        <pc:chgData name="Sam Trindade Ribeiro de Sousa" userId="S::sam.sousa.t0131751@edu.atec.pt::230a0079-7e05-4953-a7d0-fa222974c2a9" providerId="AD" clId="Web-{B410997C-1D51-AEC9-D91E-8C5796AFD9EE}" dt="2026-01-28T13:56:19.723" v="12"/>
        <pc:sldMkLst>
          <pc:docMk/>
          <pc:sldMk cId="0" sldId="257"/>
        </pc:sldMkLst>
      </pc:sldChg>
      <pc:sldChg chg="modSp modTransition">
        <pc:chgData name="Sam Trindade Ribeiro de Sousa" userId="S::sam.sousa.t0131751@edu.atec.pt::230a0079-7e05-4953-a7d0-fa222974c2a9" providerId="AD" clId="Web-{B410997C-1D51-AEC9-D91E-8C5796AFD9EE}" dt="2026-01-28T14:10:52.851" v="27" actId="20577"/>
        <pc:sldMkLst>
          <pc:docMk/>
          <pc:sldMk cId="0" sldId="258"/>
        </pc:sldMkLst>
        <pc:spChg chg="mod">
          <ac:chgData name="Sam Trindade Ribeiro de Sousa" userId="S::sam.sousa.t0131751@edu.atec.pt::230a0079-7e05-4953-a7d0-fa222974c2a9" providerId="AD" clId="Web-{B410997C-1D51-AEC9-D91E-8C5796AFD9EE}" dt="2026-01-28T14:10:52.851" v="27" actId="20577"/>
          <ac:spMkLst>
            <pc:docMk/>
            <pc:sldMk cId="0" sldId="258"/>
            <ac:spMk id="4" creationId="{00000000-0000-0000-0000-000000000000}"/>
          </ac:spMkLst>
        </pc:spChg>
      </pc:sldChg>
      <pc:sldChg chg="modTransition">
        <pc:chgData name="Sam Trindade Ribeiro de Sousa" userId="S::sam.sousa.t0131751@edu.atec.pt::230a0079-7e05-4953-a7d0-fa222974c2a9" providerId="AD" clId="Web-{B410997C-1D51-AEC9-D91E-8C5796AFD9EE}" dt="2026-01-28T13:57:01.554" v="15"/>
        <pc:sldMkLst>
          <pc:docMk/>
          <pc:sldMk cId="0" sldId="259"/>
        </pc:sldMkLst>
      </pc:sldChg>
      <pc:sldChg chg="modTransition">
        <pc:chgData name="Sam Trindade Ribeiro de Sousa" userId="S::sam.sousa.t0131751@edu.atec.pt::230a0079-7e05-4953-a7d0-fa222974c2a9" providerId="AD" clId="Web-{B410997C-1D51-AEC9-D91E-8C5796AFD9EE}" dt="2026-01-28T13:57:37.712" v="18"/>
        <pc:sldMkLst>
          <pc:docMk/>
          <pc:sldMk cId="0" sldId="260"/>
        </pc:sldMkLst>
      </pc:sldChg>
      <pc:sldChg chg="modTransition">
        <pc:chgData name="Sam Trindade Ribeiro de Sousa" userId="S::sam.sousa.t0131751@edu.atec.pt::230a0079-7e05-4953-a7d0-fa222974c2a9" providerId="AD" clId="Web-{B410997C-1D51-AEC9-D91E-8C5796AFD9EE}" dt="2026-01-28T13:57:41.102" v="20"/>
        <pc:sldMkLst>
          <pc:docMk/>
          <pc:sldMk cId="0" sldId="261"/>
        </pc:sldMkLst>
      </pc:sldChg>
      <pc:sldChg chg="modTransition">
        <pc:chgData name="Sam Trindade Ribeiro de Sousa" userId="S::sam.sousa.t0131751@edu.atec.pt::230a0079-7e05-4953-a7d0-fa222974c2a9" providerId="AD" clId="Web-{B410997C-1D51-AEC9-D91E-8C5796AFD9EE}" dt="2026-01-28T13:57:43.493" v="21"/>
        <pc:sldMkLst>
          <pc:docMk/>
          <pc:sldMk cId="0" sldId="262"/>
        </pc:sldMkLst>
      </pc:sldChg>
      <pc:sldChg chg="modTransition">
        <pc:chgData name="Sam Trindade Ribeiro de Sousa" userId="S::sam.sousa.t0131751@edu.atec.pt::230a0079-7e05-4953-a7d0-fa222974c2a9" providerId="AD" clId="Web-{B410997C-1D51-AEC9-D91E-8C5796AFD9EE}" dt="2026-01-28T13:57:45.321" v="22"/>
        <pc:sldMkLst>
          <pc:docMk/>
          <pc:sldMk cId="0" sldId="263"/>
        </pc:sldMkLst>
      </pc:sldChg>
      <pc:sldChg chg="modTransition">
        <pc:chgData name="Sam Trindade Ribeiro de Sousa" userId="S::sam.sousa.t0131751@edu.atec.pt::230a0079-7e05-4953-a7d0-fa222974c2a9" providerId="AD" clId="Web-{B410997C-1D51-AEC9-D91E-8C5796AFD9EE}" dt="2026-01-28T13:54:27.622" v="2"/>
        <pc:sldMkLst>
          <pc:docMk/>
          <pc:sldMk cId="0" sldId="266"/>
        </pc:sldMkLst>
      </pc:sldChg>
      <pc:sldChg chg="del">
        <pc:chgData name="Sam Trindade Ribeiro de Sousa" userId="S::sam.sousa.t0131751@edu.atec.pt::230a0079-7e05-4953-a7d0-fa222974c2a9" providerId="AD" clId="Web-{B410997C-1D51-AEC9-D91E-8C5796AFD9EE}" dt="2026-01-28T13:44:48.691" v="0"/>
        <pc:sldMkLst>
          <pc:docMk/>
          <pc:sldMk cId="0" sldId="269"/>
        </pc:sldMkLst>
      </pc:sldChg>
      <pc:sldChg chg="new del">
        <pc:chgData name="Sam Trindade Ribeiro de Sousa" userId="S::sam.sousa.t0131751@edu.atec.pt::230a0079-7e05-4953-a7d0-fa222974c2a9" providerId="AD" clId="Web-{B410997C-1D51-AEC9-D91E-8C5796AFD9EE}" dt="2026-01-28T13:55:02.328" v="5"/>
        <pc:sldMkLst>
          <pc:docMk/>
          <pc:sldMk cId="2778496657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028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286250" y="2644080"/>
            <a:ext cx="571500" cy="38100"/>
          </a:xfrm>
          <a:prstGeom prst="roundRect">
            <a:avLst>
              <a:gd name="adj" fmla="val 480000"/>
            </a:avLst>
          </a:prstGeom>
          <a:solidFill>
            <a:srgbClr val="00CC99"/>
          </a:solidFill>
          <a:ln/>
        </p:spPr>
        <p:txBody>
          <a:bodyPr wrap="none" lIns="0" tIns="0" rIns="0" bIns="0" rtlCol="0" anchor="ctr">
            <a:normAutofit fontScale="25000" lnSpcReduction="20000"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1841513" y="1264680"/>
            <a:ext cx="54608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OCS Inventory NG</a:t>
            </a:r>
            <a:endParaRPr lang="en-US" sz="4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4"/>
          <p:cNvSpPr/>
          <p:nvPr/>
        </p:nvSpPr>
        <p:spPr>
          <a:xfrm>
            <a:off x="2872054" y="2639906"/>
            <a:ext cx="3399740" cy="162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215"/>
              </a:lnSpc>
            </a:pPr>
            <a:endParaRPr lang="en-US" sz="135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cs typeface="Segoe UI" pitchFamily="34" charset="-120"/>
            </a:endParaRPr>
          </a:p>
          <a:p>
            <a:pPr algn="ctr">
              <a:lnSpc>
                <a:spcPts val="1215"/>
              </a:lnSpc>
            </a:pPr>
            <a:r>
              <a:rPr lang="en-US" sz="13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-120"/>
              </a:rPr>
              <a:t>GRSCP 10.25</a:t>
            </a:r>
          </a:p>
          <a:p>
            <a:pPr algn="ctr">
              <a:lnSpc>
                <a:spcPts val="1215"/>
              </a:lnSpc>
            </a:pPr>
            <a:endParaRPr lang="en-US" sz="135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cs typeface="Segoe UI" pitchFamily="34" charset="-120"/>
            </a:endParaRPr>
          </a:p>
          <a:p>
            <a:pPr algn="ctr">
              <a:lnSpc>
                <a:spcPts val="1215"/>
              </a:lnSpc>
            </a:pPr>
            <a:r>
              <a:rPr lang="en-US" sz="13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-120"/>
              </a:rPr>
              <a:t> 0826 – Redes – </a:t>
            </a:r>
            <a:r>
              <a:rPr lang="en-US" sz="135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-120"/>
              </a:rPr>
              <a:t>Instalação</a:t>
            </a:r>
            <a:r>
              <a:rPr lang="en-US" sz="13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-120"/>
              </a:rPr>
              <a:t> e </a:t>
            </a:r>
            <a:r>
              <a:rPr lang="en-US" sz="135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-120"/>
              </a:rPr>
              <a:t>configuração</a:t>
            </a:r>
            <a:endParaRPr lang="en-US" sz="135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cs typeface="Segoe UI" pitchFamily="34" charset="-120"/>
            </a:endParaRPr>
          </a:p>
          <a:p>
            <a:pPr algn="ctr">
              <a:lnSpc>
                <a:spcPts val="1215"/>
              </a:lnSpc>
            </a:pPr>
            <a:endParaRPr lang="en-US" sz="135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cs typeface="Segoe UI" pitchFamily="34" charset="-120"/>
            </a:endParaRPr>
          </a:p>
          <a:p>
            <a:pPr algn="ctr">
              <a:lnSpc>
                <a:spcPts val="1215"/>
              </a:lnSpc>
            </a:pPr>
            <a:endParaRPr lang="en-US" sz="135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cs typeface="Segoe UI" pitchFamily="34" charset="-120"/>
            </a:endParaRPr>
          </a:p>
          <a:p>
            <a:pPr algn="ctr">
              <a:lnSpc>
                <a:spcPts val="1215"/>
              </a:lnSpc>
            </a:pPr>
            <a:endParaRPr lang="en-US" sz="135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cs typeface="Segoe UI" pitchFamily="34" charset="-120"/>
            </a:endParaRPr>
          </a:p>
          <a:p>
            <a:pPr algn="ctr">
              <a:lnSpc>
                <a:spcPts val="1215"/>
              </a:lnSpc>
            </a:pPr>
            <a:endParaRPr lang="en-US" sz="135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itchFamily="34" charset="0"/>
              <a:cs typeface="Segoe UI" pitchFamily="34" charset="-120"/>
            </a:endParaRPr>
          </a:p>
          <a:p>
            <a:pPr algn="ctr">
              <a:lnSpc>
                <a:spcPts val="1215"/>
              </a:lnSpc>
            </a:pPr>
            <a:r>
              <a:rPr lang="en-US" sz="13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-120"/>
              </a:rPr>
              <a:t>Sam de Sousa </a:t>
            </a:r>
            <a:r>
              <a:rPr lang="pt-PT" sz="13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-120"/>
              </a:rPr>
              <a:t>&amp; </a:t>
            </a:r>
            <a:r>
              <a:rPr lang="en-US" sz="135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-120"/>
              </a:rPr>
              <a:t>Felipe Pontes</a:t>
            </a:r>
          </a:p>
          <a:p>
            <a:pPr marL="0" indent="0" algn="ctr">
              <a:lnSpc>
                <a:spcPts val="1215"/>
              </a:lnSpc>
              <a:buNone/>
            </a:pPr>
            <a:endParaRPr lang="en-US" sz="13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Atec - Battery Cluster Portugal">
            <a:extLst>
              <a:ext uri="{FF2B5EF4-FFF2-40B4-BE49-F238E27FC236}">
                <a16:creationId xmlns:a16="http://schemas.microsoft.com/office/drawing/2014/main" id="{7418B4B2-6BB4-26E7-BFAC-7399CB01A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207591"/>
            <a:ext cx="8534400" cy="962025"/>
          </a:xfrm>
          <a:prstGeom prst="roundRect">
            <a:avLst>
              <a:gd name="adj" fmla="val 114059"/>
            </a:avLst>
          </a:prstGeom>
          <a:noFill/>
          <a:ln w="28575">
            <a:solidFill>
              <a:srgbClr val="00CC99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04800" y="2322016"/>
            <a:ext cx="8534400" cy="2119355"/>
          </a:xfrm>
          <a:prstGeom prst="roundRect">
            <a:avLst>
              <a:gd name="adj" fmla="val 76832"/>
            </a:avLst>
          </a:prstGeom>
          <a:solidFill>
            <a:srgbClr val="0A0E27">
              <a:alpha val="80000"/>
            </a:srgbClr>
          </a:solidFill>
          <a:ln w="19050">
            <a:solidFill>
              <a:srgbClr val="00CC99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O que Significa OCS?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2925" y="1445716"/>
            <a:ext cx="821931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88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OCS</a:t>
            </a:r>
            <a:endParaRPr lang="en-US" sz="1320" dirty="0"/>
          </a:p>
        </p:txBody>
      </p:sp>
      <p:sp>
        <p:nvSpPr>
          <p:cNvPr id="7" name="Text 4"/>
          <p:cNvSpPr/>
          <p:nvPr/>
        </p:nvSpPr>
        <p:spPr>
          <a:xfrm>
            <a:off x="542925" y="1740991"/>
            <a:ext cx="821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Computers and Software Inventory Next Generation</a:t>
            </a:r>
            <a:endParaRPr lang="en-US" sz="1140" dirty="0"/>
          </a:p>
        </p:txBody>
      </p:sp>
      <p:sp>
        <p:nvSpPr>
          <p:cNvPr id="8" name="Text 5"/>
          <p:cNvSpPr/>
          <p:nvPr/>
        </p:nvSpPr>
        <p:spPr>
          <a:xfrm>
            <a:off x="800100" y="2569666"/>
            <a:ext cx="8039100" cy="1669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36"/>
              </a:lnSpc>
              <a:buNone/>
            </a:pPr>
            <a:r>
              <a:rPr lang="en-US" sz="108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Open:</a:t>
            </a: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Software aberto e gratuito (licença GNU/GPL)</a:t>
            </a:r>
            <a:endParaRPr lang="en-US" sz="1080" dirty="0"/>
          </a:p>
          <a:p>
            <a:pPr marL="0" indent="0">
              <a:lnSpc>
                <a:spcPts val="1836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80" dirty="0"/>
          </a:p>
          <a:p>
            <a:pPr marL="0" indent="0">
              <a:lnSpc>
                <a:spcPts val="1836"/>
              </a:lnSpc>
              <a:buNone/>
            </a:pPr>
            <a:r>
              <a:rPr lang="en-US" sz="108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Computers and Software:</a:t>
            </a: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Inventaria hardware e software</a:t>
            </a:r>
            <a:endParaRPr lang="en-US" sz="1080" dirty="0"/>
          </a:p>
          <a:p>
            <a:pPr marL="0" indent="0">
              <a:lnSpc>
                <a:spcPts val="1836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80" dirty="0"/>
          </a:p>
          <a:p>
            <a:pPr marL="0" indent="0">
              <a:lnSpc>
                <a:spcPts val="1836"/>
              </a:lnSpc>
              <a:buNone/>
            </a:pPr>
            <a:r>
              <a:rPr lang="en-US" sz="108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Inventory:</a:t>
            </a: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Catalogação e gestão de ativos</a:t>
            </a:r>
            <a:endParaRPr lang="en-US" sz="1080" dirty="0"/>
          </a:p>
          <a:p>
            <a:pPr marL="0" indent="0">
              <a:lnSpc>
                <a:spcPts val="1836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080" dirty="0"/>
          </a:p>
          <a:p>
            <a:pPr marL="0" indent="0">
              <a:lnSpc>
                <a:spcPts val="1836"/>
              </a:lnSpc>
              <a:buNone/>
            </a:pPr>
            <a:r>
              <a:rPr lang="en-US" sz="108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Generation:</a:t>
            </a: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Versão moderna e atualizada</a:t>
            </a:r>
            <a:endParaRPr lang="en-US" sz="1080" dirty="0"/>
          </a:p>
        </p:txBody>
      </p:sp>
      <p:pic>
        <p:nvPicPr>
          <p:cNvPr id="9" name="Picture 2" descr="Atec - Battery Cluster Portugal">
            <a:extLst>
              <a:ext uri="{FF2B5EF4-FFF2-40B4-BE49-F238E27FC236}">
                <a16:creationId xmlns:a16="http://schemas.microsoft.com/office/drawing/2014/main" id="{064E600F-6399-FA0B-520A-0580E3C6C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207591"/>
            <a:ext cx="8534400" cy="1272183"/>
          </a:xfrm>
          <a:prstGeom prst="roundRect">
            <a:avLst>
              <a:gd name="adj" fmla="val 86252"/>
            </a:avLst>
          </a:prstGeom>
          <a:solidFill>
            <a:srgbClr val="0A0E27">
              <a:alpha val="80000"/>
            </a:srgbClr>
          </a:solidFill>
          <a:ln w="19050">
            <a:solidFill>
              <a:srgbClr val="00CC99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400" b="1" dirty="0">
                <a:solidFill>
                  <a:srgbClr val="3399FF"/>
                </a:solidFill>
                <a:latin typeface="Segoe UI"/>
                <a:ea typeface="Segoe UI" pitchFamily="34" charset="-122"/>
                <a:cs typeface="Segoe UI"/>
              </a:rPr>
              <a:t>❓ O que é OCS Inventory NG?</a:t>
            </a:r>
            <a:endParaRPr lang="en-US" sz="2400">
              <a:latin typeface="Segoe UI"/>
              <a:ea typeface="Calibri"/>
              <a:cs typeface="Calibri"/>
            </a:endParaRPr>
          </a:p>
        </p:txBody>
      </p:sp>
      <p:sp>
        <p:nvSpPr>
          <p:cNvPr id="5" name="Text 2"/>
          <p:cNvSpPr/>
          <p:nvPr/>
        </p:nvSpPr>
        <p:spPr>
          <a:xfrm>
            <a:off x="552450" y="1455241"/>
            <a:ext cx="8039100" cy="922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</a:t>
            </a: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open-source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permite automatizar o inventário de computadores e software em uma rede. Funciona instalando </a:t>
            </a: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agentes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nas máquinas que coletam dados de hardware e software, enviando para um </a:t>
            </a: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centralizado</a:t>
            </a: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que armazena e disponibiliza as informações numa interface web.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04800" y="2632174"/>
            <a:ext cx="8705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Automatiza a coleta de dados | ✓ Gerenciamento centralizado | ✓ Interface web fácil de usar | ✓ Totalmente gratuito</a:t>
            </a:r>
            <a:endParaRPr lang="en-US" sz="1140" dirty="0"/>
          </a:p>
        </p:txBody>
      </p:sp>
      <p:pic>
        <p:nvPicPr>
          <p:cNvPr id="7" name="Picture 2" descr="Atec - Battery Cluster Portugal">
            <a:extLst>
              <a:ext uri="{FF2B5EF4-FFF2-40B4-BE49-F238E27FC236}">
                <a16:creationId xmlns:a16="http://schemas.microsoft.com/office/drawing/2014/main" id="{C272728E-3218-1AF2-FA4E-F40F642E3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177082"/>
            <a:ext cx="4191000" cy="921693"/>
          </a:xfrm>
          <a:prstGeom prst="roundRect">
            <a:avLst>
              <a:gd name="adj" fmla="val 793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48200" y="1177082"/>
            <a:ext cx="4191000" cy="921693"/>
          </a:xfrm>
          <a:prstGeom prst="roundRect">
            <a:avLst>
              <a:gd name="adj" fmla="val 793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2251174"/>
            <a:ext cx="4191000" cy="921693"/>
          </a:xfrm>
          <a:prstGeom prst="roundRect">
            <a:avLst>
              <a:gd name="adj" fmla="val 793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48200" y="2251174"/>
            <a:ext cx="4191000" cy="921693"/>
          </a:xfrm>
          <a:prstGeom prst="roundRect">
            <a:avLst>
              <a:gd name="adj" fmla="val 793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4800" y="3325267"/>
            <a:ext cx="4191000" cy="921693"/>
          </a:xfrm>
          <a:prstGeom prst="roundRect">
            <a:avLst>
              <a:gd name="adj" fmla="val 793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48200" y="3325267"/>
            <a:ext cx="4191000" cy="921693"/>
          </a:xfrm>
          <a:prstGeom prst="roundRect">
            <a:avLst>
              <a:gd name="adj" fmla="val 79367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Para que Serve?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95300" y="1329482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Inventário Automatizado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5300" y="1557933"/>
            <a:ext cx="384810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Saber automaticamente que computadores e software tem na rede, sem fazer contagem manual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4838700" y="1329482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Gestão de Ativos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38700" y="1557933"/>
            <a:ext cx="384810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Controlar o valor dos investimentos em TI e detectar hardware/software não autorizado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495300" y="2403574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⚖️ Auditoria de Licenças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5300" y="2632025"/>
            <a:ext cx="384810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Verificar se todas as licenças de software estão legalizadas e em conformidade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4838700" y="2403574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Planejamento Técnico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38700" y="2632025"/>
            <a:ext cx="384810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Planear atualizações, upgrades e investimentos baseado em dados reais do parque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495300" y="3477667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Segurança Informática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5300" y="3706118"/>
            <a:ext cx="384810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equipamentos desatualizados ou com patches de segurança em falta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4838700" y="3477667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Distribuição de Software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38700" y="3706118"/>
            <a:ext cx="3848100" cy="388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Instalar ou atualizar software remotamente em múltiplos computadores</a:t>
            </a:r>
            <a:endParaRPr lang="en-US" sz="1020" dirty="0"/>
          </a:p>
        </p:txBody>
      </p:sp>
      <p:pic>
        <p:nvPicPr>
          <p:cNvPr id="22" name="Picture 2" descr="Atec - Battery Cluster Portugal">
            <a:extLst>
              <a:ext uri="{FF2B5EF4-FFF2-40B4-BE49-F238E27FC236}">
                <a16:creationId xmlns:a16="http://schemas.microsoft.com/office/drawing/2014/main" id="{F19C7856-4212-4F25-E647-9C5B87261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46239" y="1641723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0066C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1946239" y="2167236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0066C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946239" y="2692748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0066C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946239" y="3218260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0066C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4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Como Funciona?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2479639" y="1641723"/>
            <a:ext cx="428711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Instalação de Agentes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79639" y="1854845"/>
            <a:ext cx="42030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 um pequeno programa (agente) em cada computador da rede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2479639" y="2170719"/>
            <a:ext cx="480461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Recolha Automática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479639" y="2383841"/>
            <a:ext cx="4710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agentes recolhem periodicamente dados de hardware e software instalado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2479639" y="2692748"/>
            <a:ext cx="388999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Envio para Servidor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479639" y="2905870"/>
            <a:ext cx="38137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dados são enviados de forma segura para o servidor central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2479639" y="3218260"/>
            <a:ext cx="3860697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Análise e Visualização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479639" y="3431382"/>
            <a:ext cx="37849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 a informação através da interface web em tempo real</a:t>
            </a:r>
            <a:endParaRPr lang="en-US" sz="1080" dirty="0"/>
          </a:p>
        </p:txBody>
      </p:sp>
      <p:pic>
        <p:nvPicPr>
          <p:cNvPr id="16" name="Picture 2" descr="Atec - Battery Cluster Portugal">
            <a:extLst>
              <a:ext uri="{FF2B5EF4-FFF2-40B4-BE49-F238E27FC236}">
                <a16:creationId xmlns:a16="http://schemas.microsoft.com/office/drawing/2014/main" id="{4CDE733D-B75C-BC55-F40E-F77AEFDDE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9085" y="1177082"/>
            <a:ext cx="4191000" cy="1093291"/>
          </a:xfrm>
          <a:prstGeom prst="roundRect">
            <a:avLst>
              <a:gd name="adj" fmla="val 100365"/>
            </a:avLst>
          </a:prstGeom>
          <a:noFill/>
          <a:ln w="19050">
            <a:solidFill>
              <a:schemeClr val="accent2">
                <a:lumMod val="75000"/>
              </a:schemeClr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4648200" y="1177082"/>
            <a:ext cx="4191000" cy="1093291"/>
          </a:xfrm>
          <a:prstGeom prst="roundRect">
            <a:avLst>
              <a:gd name="adj" fmla="val 100365"/>
            </a:avLst>
          </a:prstGeom>
          <a:noFill/>
          <a:ln w="19050">
            <a:solidFill>
              <a:srgbClr val="7030A0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2422773"/>
            <a:ext cx="4191000" cy="940891"/>
          </a:xfrm>
          <a:prstGeom prst="roundRect">
            <a:avLst>
              <a:gd name="adj" fmla="val 116621"/>
            </a:avLst>
          </a:prstGeom>
          <a:solidFill>
            <a:srgbClr val="0A0E27">
              <a:alpha val="80000"/>
            </a:srgbClr>
          </a:solidFill>
          <a:ln w="19050">
            <a:solidFill>
              <a:srgbClr val="3399FF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48200" y="2422773"/>
            <a:ext cx="4191000" cy="940891"/>
          </a:xfrm>
          <a:prstGeom prst="roundRect">
            <a:avLst>
              <a:gd name="adj" fmla="val 116621"/>
            </a:avLst>
          </a:prstGeom>
          <a:solidFill>
            <a:srgbClr val="0A0E27">
              <a:alpha val="80000"/>
            </a:srgbClr>
          </a:solidFill>
          <a:ln w="19050">
            <a:solidFill>
              <a:srgbClr val="10B981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🏗️ Componentes Principais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42925" y="1415207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</a:t>
            </a:r>
            <a:r>
              <a:rPr lang="en-US" sz="1200" b="1" dirty="0">
                <a:solidFill>
                  <a:srgbClr val="7030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 Central</a:t>
            </a:r>
            <a:endParaRPr lang="en-US" sz="1200" dirty="0">
              <a:solidFill>
                <a:srgbClr val="7030A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42925" y="1689348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Recebe dados dos agentes, armazena em base de dados e disponibiliza interface web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4886325" y="1415207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C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Agentes Cliente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886325" y="1689348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Pequenos programas instalados nos computadores que recolhem informações</a:t>
            </a:r>
            <a:endParaRPr lang="en-US" sz="102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552450" y="2670423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🗄️ Base de Dados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2450" y="2944564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Armazena toda a informação de inventário (MySQL ou MariaDB)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4895850" y="2670423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Interface Web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5850" y="2944564"/>
            <a:ext cx="37696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18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consultar, gerenciar e analisar os dados do inventário</a:t>
            </a:r>
            <a:endParaRPr lang="en-US" sz="1020" dirty="0"/>
          </a:p>
        </p:txBody>
      </p:sp>
      <p:pic>
        <p:nvPicPr>
          <p:cNvPr id="16" name="Picture 2" descr="Atec - Battery Cluster Portugal">
            <a:extLst>
              <a:ext uri="{FF2B5EF4-FFF2-40B4-BE49-F238E27FC236}">
                <a16:creationId xmlns:a16="http://schemas.microsoft.com/office/drawing/2014/main" id="{040E2245-EB4D-BB91-BBC6-3931FCB51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177082"/>
            <a:ext cx="4191000" cy="2212777"/>
          </a:xfrm>
          <a:prstGeom prst="roundRect">
            <a:avLst>
              <a:gd name="adj" fmla="val 49588"/>
            </a:avLst>
          </a:prstGeom>
          <a:noFill/>
          <a:ln w="9525">
            <a:solidFill>
              <a:srgbClr val="FFFFFF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48200" y="1177082"/>
            <a:ext cx="4191000" cy="2212777"/>
          </a:xfrm>
          <a:prstGeom prst="roundRect">
            <a:avLst>
              <a:gd name="adj" fmla="val 49588"/>
            </a:avLst>
          </a:prstGeom>
          <a:noFill/>
          <a:ln w="9525">
            <a:solidFill>
              <a:srgbClr val="FFFFFF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Que Informações Coleta?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933450" y="1415207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Hardware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7725" y="1689348"/>
            <a:ext cx="3409950" cy="1462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Processador e memória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Discos rígidos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Impressoras e periféricos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Placas de rede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Monitores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5278755" y="1415206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Software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191125" y="1689348"/>
            <a:ext cx="3409950" cy="1462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Programas instalados</a:t>
            </a:r>
            <a:endParaRPr lang="en-US" sz="960" dirty="0">
              <a:solidFill>
                <a:schemeClr val="bg1"/>
              </a:solidFill>
            </a:endParaRP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Versões</a:t>
            </a:r>
            <a:endParaRPr lang="en-US" sz="960" dirty="0">
              <a:solidFill>
                <a:schemeClr val="bg1"/>
              </a:solidFill>
            </a:endParaRP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de instalação</a:t>
            </a:r>
            <a:endParaRPr lang="en-US" sz="960" dirty="0">
              <a:solidFill>
                <a:schemeClr val="bg1"/>
              </a:solidFill>
            </a:endParaRP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Fabricante/Editora</a:t>
            </a:r>
            <a:endParaRPr lang="en-US" sz="960" dirty="0">
              <a:solidFill>
                <a:schemeClr val="bg1"/>
              </a:solidFill>
            </a:endParaRP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Licenças</a:t>
            </a:r>
            <a:endParaRPr lang="en-US" sz="960" dirty="0">
              <a:solidFill>
                <a:schemeClr val="bg1"/>
              </a:solidFill>
            </a:endParaRPr>
          </a:p>
        </p:txBody>
      </p:sp>
      <p:pic>
        <p:nvPicPr>
          <p:cNvPr id="10" name="Picture 2" descr="Atec - Battery Cluster Portugal">
            <a:extLst>
              <a:ext uri="{FF2B5EF4-FFF2-40B4-BE49-F238E27FC236}">
                <a16:creationId xmlns:a16="http://schemas.microsoft.com/office/drawing/2014/main" id="{1D06F545-FA42-D9F9-E48E-29B94A21C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177082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48200" y="1177082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2056954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48200" y="2056954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4800" y="2936825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48200" y="2936825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Vantagens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95300" y="1329482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Gratuito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5300" y="1557933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custos de licença, é software livre (GNU/GPL)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4838700" y="1329482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Automatizado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38700" y="1557933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Recolhe dados automaticamente, sem intervenção manual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495300" y="2209354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Multiplataforma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5300" y="2437805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 em Windows, Linux, macOS e outras plataformas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4838700" y="2209354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Escalável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38700" y="2437805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Pode gerir desde centenas até milhares de computadores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495300" y="3089225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Flexível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5300" y="3317677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aberto, pode ser personalizado conforme necessário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4838700" y="3089225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Funcionalidades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38700" y="3317677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remoto, relatórios, auditorias, alertas configuráveis</a:t>
            </a:r>
            <a:endParaRPr lang="en-US" sz="1020" dirty="0"/>
          </a:p>
        </p:txBody>
      </p:sp>
      <p:pic>
        <p:nvPicPr>
          <p:cNvPr id="22" name="Picture 2" descr="Atec - Battery Cluster Portugal">
            <a:extLst>
              <a:ext uri="{FF2B5EF4-FFF2-40B4-BE49-F238E27FC236}">
                <a16:creationId xmlns:a16="http://schemas.microsoft.com/office/drawing/2014/main" id="{865FEF3A-E8B6-72DD-1B0C-2820C5C70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177082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48200" y="1177082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2056954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48200" y="2056954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4800" y="2936825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648200" y="2936825"/>
            <a:ext cx="4191000" cy="727472"/>
          </a:xfrm>
          <a:prstGeom prst="roundRect">
            <a:avLst>
              <a:gd name="adj" fmla="val 100556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Desvantagens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495300" y="1329482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 Complexidade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95300" y="1557933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Requer conhecimento técnico para instalar e configurar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4838700" y="1329482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🛠️ Manutenção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38700" y="1557933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Necessita de manutenção regular do servidor</a:t>
            </a:r>
            <a:endParaRPr lang="en-US" sz="1020" dirty="0"/>
          </a:p>
        </p:txBody>
      </p:sp>
      <p:sp>
        <p:nvSpPr>
          <p:cNvPr id="14" name="Text 11"/>
          <p:cNvSpPr/>
          <p:nvPr/>
        </p:nvSpPr>
        <p:spPr>
          <a:xfrm>
            <a:off x="495300" y="2209354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 Interface Antiga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5300" y="2437805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Interface web é mais simples e menos moderna</a:t>
            </a:r>
            <a:endParaRPr lang="en-US" sz="1020" dirty="0"/>
          </a:p>
        </p:txBody>
      </p:sp>
      <p:sp>
        <p:nvSpPr>
          <p:cNvPr id="16" name="Text 13"/>
          <p:cNvSpPr/>
          <p:nvPr/>
        </p:nvSpPr>
        <p:spPr>
          <a:xfrm>
            <a:off x="4838700" y="2209354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📖 Documentação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38700" y="2437805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Documentação limitada em português</a:t>
            </a:r>
            <a:endParaRPr lang="en-US" sz="1020" dirty="0"/>
          </a:p>
        </p:txBody>
      </p:sp>
      <p:sp>
        <p:nvSpPr>
          <p:cNvPr id="18" name="Text 15"/>
          <p:cNvSpPr/>
          <p:nvPr/>
        </p:nvSpPr>
        <p:spPr>
          <a:xfrm>
            <a:off x="495300" y="3089225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Suporte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5300" y="3317677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suporte profissional 24/7, apenas comunidade</a:t>
            </a:r>
            <a:endParaRPr lang="en-US" sz="1020" dirty="0"/>
          </a:p>
        </p:txBody>
      </p:sp>
      <p:sp>
        <p:nvSpPr>
          <p:cNvPr id="20" name="Text 17"/>
          <p:cNvSpPr/>
          <p:nvPr/>
        </p:nvSpPr>
        <p:spPr>
          <a:xfrm>
            <a:off x="4838700" y="3089225"/>
            <a:ext cx="392506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3FF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Integrações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38700" y="3317677"/>
            <a:ext cx="3925062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30"/>
              </a:lnSpc>
              <a:buNone/>
            </a:pPr>
            <a:r>
              <a:rPr lang="en-US" sz="10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Integrações limitadas com outras ferramentas</a:t>
            </a:r>
            <a:endParaRPr lang="en-US" sz="1020" dirty="0"/>
          </a:p>
        </p:txBody>
      </p:sp>
      <p:pic>
        <p:nvPicPr>
          <p:cNvPr id="22" name="Picture 2" descr="Atec - Battery Cluster Portugal">
            <a:extLst>
              <a:ext uri="{FF2B5EF4-FFF2-40B4-BE49-F238E27FC236}">
                <a16:creationId xmlns:a16="http://schemas.microsoft.com/office/drawing/2014/main" id="{AD827023-8463-6FBB-0598-AD349BF59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177082"/>
            <a:ext cx="4191000" cy="1902023"/>
          </a:xfrm>
          <a:prstGeom prst="roundRect">
            <a:avLst>
              <a:gd name="adj" fmla="val 57690"/>
            </a:avLst>
          </a:prstGeom>
          <a:noFill/>
          <a:ln w="9525">
            <a:solidFill>
              <a:srgbClr val="FFFFFF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48200" y="1177082"/>
            <a:ext cx="4191000" cy="1902023"/>
          </a:xfrm>
          <a:prstGeom prst="roundRect">
            <a:avLst>
              <a:gd name="adj" fmla="val 57690"/>
            </a:avLst>
          </a:prstGeom>
          <a:noFill/>
          <a:ln w="9525">
            <a:solidFill>
              <a:srgbClr val="FFFFFF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Requisitos Técnicos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63411" y="1413094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Servidor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7725" y="1689348"/>
            <a:ext cx="3409950" cy="1151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Linux (Debian, Ubuntu, CentOS)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Apache + PHP 5.3+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MySQL 5.0+ ou MariaDB</a:t>
            </a:r>
            <a:endParaRPr lang="en-US" sz="960" dirty="0"/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RAM: Mín. 2GB, Recom. 4GB+</a:t>
            </a:r>
            <a:endParaRPr lang="en-US" sz="960" dirty="0"/>
          </a:p>
        </p:txBody>
      </p:sp>
      <p:sp>
        <p:nvSpPr>
          <p:cNvPr id="8" name="Text 5"/>
          <p:cNvSpPr/>
          <p:nvPr/>
        </p:nvSpPr>
        <p:spPr>
          <a:xfrm>
            <a:off x="5507355" y="1442579"/>
            <a:ext cx="3789045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191125" y="1689348"/>
            <a:ext cx="3409950" cy="1151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XP, Vista, 7, 8, 10, 11</a:t>
            </a:r>
            <a:endParaRPr lang="en-US" sz="960" dirty="0">
              <a:solidFill>
                <a:schemeClr val="bg1"/>
              </a:solidFill>
            </a:endParaRP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Qualquer Linux</a:t>
            </a:r>
            <a:endParaRPr lang="en-US" sz="960" dirty="0">
              <a:solidFill>
                <a:schemeClr val="bg1"/>
              </a:solidFill>
            </a:endParaRP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10.5+</a:t>
            </a:r>
            <a:endParaRPr lang="en-US" sz="960" dirty="0">
              <a:solidFill>
                <a:schemeClr val="bg1"/>
              </a:solidFill>
            </a:endParaRPr>
          </a:p>
          <a:p>
            <a:pPr marL="342900" indent="-342900">
              <a:lnSpc>
                <a:spcPts val="1728"/>
              </a:lnSpc>
              <a:buSzPct val="100000"/>
              <a:buChar char="•"/>
            </a:pPr>
            <a:r>
              <a:rPr lang="en-US" sz="960" dirty="0">
                <a:solidFill>
                  <a:schemeClr val="bg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RAM: Mín. 256MB</a:t>
            </a:r>
            <a:endParaRPr lang="en-US" sz="960" dirty="0">
              <a:solidFill>
                <a:schemeClr val="bg1"/>
              </a:solidFill>
            </a:endParaRPr>
          </a:p>
        </p:txBody>
      </p:sp>
      <p:pic>
        <p:nvPicPr>
          <p:cNvPr id="10" name="Picture 2" descr="Atec - Battery Cluster Portugal">
            <a:extLst>
              <a:ext uri="{FF2B5EF4-FFF2-40B4-BE49-F238E27FC236}">
                <a16:creationId xmlns:a16="http://schemas.microsoft.com/office/drawing/2014/main" id="{85BADAA0-87A4-359D-5CE2-5036B17E8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4800" y="2195215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0066C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04800" y="2667595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0066C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04800" y="3139976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0066C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04800" y="3612356"/>
            <a:ext cx="381000" cy="381000"/>
          </a:xfrm>
          <a:prstGeom prst="roundRect">
            <a:avLst>
              <a:gd name="adj" fmla="val 1200000"/>
            </a:avLst>
          </a:prstGeom>
          <a:solidFill>
            <a:srgbClr val="0066CC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4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🏢 Exemplo Prático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14718" y="1302841"/>
            <a:ext cx="8314564" cy="492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38"/>
              </a:lnSpc>
              <a:buNone/>
            </a:pPr>
            <a:r>
              <a:rPr lang="en-US" sz="114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Segoe UI" pitchFamily="34" charset="-122"/>
                <a:cs typeface="Segoe UI" pitchFamily="34" charset="-120"/>
              </a:rPr>
              <a:t>Uma empresa com 500 computadores necessita fazer auditoria de software para garantir conformidade de licenças. Com OCS:</a:t>
            </a:r>
            <a:endParaRPr lang="en-US" sz="114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 7"/>
          <p:cNvSpPr/>
          <p:nvPr/>
        </p:nvSpPr>
        <p:spPr>
          <a:xfrm>
            <a:off x="838200" y="2195215"/>
            <a:ext cx="233139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Instala agentes nos 500 computadores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38200" y="2667595"/>
            <a:ext cx="33975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 agentes recolhem automaticamente lista de software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838200" y="3139976"/>
            <a:ext cx="41002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Gera relatório mostrando software não autorizado ou desatualizado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838200" y="3612356"/>
            <a:ext cx="361577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72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Toma ações corretivas com base na informação centralizada</a:t>
            </a:r>
            <a:endParaRPr lang="en-US" sz="1080" dirty="0"/>
          </a:p>
        </p:txBody>
      </p:sp>
      <p:pic>
        <p:nvPicPr>
          <p:cNvPr id="14" name="Picture 2" descr="Atec - Battery Cluster Portugal">
            <a:extLst>
              <a:ext uri="{FF2B5EF4-FFF2-40B4-BE49-F238E27FC236}">
                <a16:creationId xmlns:a16="http://schemas.microsoft.com/office/drawing/2014/main" id="{78024409-61A7-9366-F5EF-211728358E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177082"/>
            <a:ext cx="4191000" cy="931366"/>
          </a:xfrm>
          <a:prstGeom prst="roundRect">
            <a:avLst>
              <a:gd name="adj" fmla="val 117814"/>
            </a:avLst>
          </a:prstGeom>
          <a:solidFill>
            <a:srgbClr val="0A0E27">
              <a:alpha val="80000"/>
            </a:srgbClr>
          </a:solidFill>
          <a:ln w="19050">
            <a:solidFill>
              <a:srgbClr val="00CC99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648200" y="1177082"/>
            <a:ext cx="4191000" cy="931366"/>
          </a:xfrm>
          <a:prstGeom prst="roundRect">
            <a:avLst>
              <a:gd name="adj" fmla="val 117814"/>
            </a:avLst>
          </a:prstGeom>
          <a:solidFill>
            <a:srgbClr val="0A0E27">
              <a:alpha val="80000"/>
            </a:srgbClr>
          </a:solidFill>
          <a:ln w="19050">
            <a:solidFill>
              <a:srgbClr val="00CC99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2260848"/>
            <a:ext cx="4191000" cy="931366"/>
          </a:xfrm>
          <a:prstGeom prst="roundRect">
            <a:avLst>
              <a:gd name="adj" fmla="val 117814"/>
            </a:avLst>
          </a:prstGeom>
          <a:solidFill>
            <a:srgbClr val="0A0E27">
              <a:alpha val="80000"/>
            </a:srgbClr>
          </a:solidFill>
          <a:ln w="19050">
            <a:solidFill>
              <a:srgbClr val="00CC99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648200" y="2260848"/>
            <a:ext cx="4191000" cy="931366"/>
          </a:xfrm>
          <a:prstGeom prst="roundRect">
            <a:avLst>
              <a:gd name="adj" fmla="val 117814"/>
            </a:avLst>
          </a:prstGeom>
          <a:solidFill>
            <a:srgbClr val="0A0E27">
              <a:alpha val="80000"/>
            </a:srgbClr>
          </a:solidFill>
          <a:ln w="19050">
            <a:solidFill>
              <a:srgbClr val="00CC99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🏆 Quem Usa OCS?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52450" y="1424732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200" b="1" dirty="0">
                <a:solidFill>
                  <a:srgbClr val="00CC99"/>
                </a:solidFill>
              </a:rPr>
              <a:t>🏥 Setor da Saúde</a:t>
            </a:r>
          </a:p>
          <a:p>
            <a:pPr marL="0" indent="0">
              <a:lnSpc>
                <a:spcPts val="1440"/>
              </a:lnSpc>
              <a:buNone/>
            </a:pPr>
            <a:endParaRPr lang="en-US" sz="1200" dirty="0">
              <a:solidFill>
                <a:srgbClr val="00CC99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552450" y="1698873"/>
            <a:ext cx="37696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960" dirty="0">
                <a:solidFill>
                  <a:schemeClr val="bg1"/>
                </a:solidFill>
              </a:rPr>
              <a:t>Hospitais e centros de saúde para inventário de equipamentos</a:t>
            </a:r>
          </a:p>
        </p:txBody>
      </p:sp>
      <p:sp>
        <p:nvSpPr>
          <p:cNvPr id="10" name="Text 7"/>
          <p:cNvSpPr/>
          <p:nvPr/>
        </p:nvSpPr>
        <p:spPr>
          <a:xfrm>
            <a:off x="4895850" y="1424732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1200" b="1" dirty="0">
                <a:solidFill>
                  <a:srgbClr val="00CC99"/>
                </a:solidFill>
              </a:rPr>
              <a:t>🏢 PMEs Tecnológicas</a:t>
            </a:r>
          </a:p>
        </p:txBody>
      </p:sp>
      <p:sp>
        <p:nvSpPr>
          <p:cNvPr id="11" name="Text 8"/>
          <p:cNvSpPr/>
          <p:nvPr/>
        </p:nvSpPr>
        <p:spPr>
          <a:xfrm>
            <a:off x="4895850" y="1698873"/>
            <a:ext cx="37696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960" dirty="0">
                <a:solidFill>
                  <a:schemeClr val="bg1"/>
                </a:solidFill>
              </a:rPr>
              <a:t>Pequenas e médias empresas por custo zero e escalabilidade</a:t>
            </a:r>
          </a:p>
        </p:txBody>
      </p:sp>
      <p:sp>
        <p:nvSpPr>
          <p:cNvPr id="12" name="Text 9"/>
          <p:cNvSpPr/>
          <p:nvPr/>
        </p:nvSpPr>
        <p:spPr>
          <a:xfrm>
            <a:off x="552450" y="2508498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Universidades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52450" y="2782639"/>
            <a:ext cx="37696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6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Gerenciam parques educacionais e de investigação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4895850" y="2508498"/>
            <a:ext cx="37696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🏛️ Setor Público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5850" y="2782639"/>
            <a:ext cx="37696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6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Administrações e instituições governamentais</a:t>
            </a:r>
            <a:endParaRPr lang="en-US" sz="960" dirty="0"/>
          </a:p>
        </p:txBody>
      </p:sp>
      <p:pic>
        <p:nvPicPr>
          <p:cNvPr id="16" name="Picture 2" descr="Atec - Battery Cluster Portugal">
            <a:extLst>
              <a:ext uri="{FF2B5EF4-FFF2-40B4-BE49-F238E27FC236}">
                <a16:creationId xmlns:a16="http://schemas.microsoft.com/office/drawing/2014/main" id="{B79B8A11-1C4E-94E1-E0C0-7A0064B6B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800" y="1055191"/>
            <a:ext cx="8534400" cy="857548"/>
          </a:xfrm>
          <a:prstGeom prst="roundRect">
            <a:avLst>
              <a:gd name="adj" fmla="val 127956"/>
            </a:avLst>
          </a:prstGeom>
          <a:solidFill>
            <a:srgbClr val="0A0E27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304800" y="2004120"/>
            <a:ext cx="8534400" cy="857548"/>
          </a:xfrm>
          <a:prstGeom prst="roundRect">
            <a:avLst>
              <a:gd name="adj" fmla="val 127956"/>
            </a:avLst>
          </a:prstGeom>
          <a:solidFill>
            <a:srgbClr val="0A0E27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304800" y="2953048"/>
            <a:ext cx="8534400" cy="857548"/>
          </a:xfrm>
          <a:prstGeom prst="roundRect">
            <a:avLst>
              <a:gd name="adj" fmla="val 127956"/>
            </a:avLst>
          </a:prstGeom>
          <a:solidFill>
            <a:srgbClr val="0A0E27">
              <a:alpha val="80000"/>
            </a:srgbClr>
          </a:solidFill>
          <a:ln w="9525">
            <a:solidFill>
              <a:srgbClr val="FFFFFF"/>
            </a:solidFill>
          </a:ln>
          <a:effectLst>
            <a:outerShdw blurRad="3048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04800" y="304800"/>
            <a:ext cx="8705088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399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🔄 Alternativas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71500" y="1293316"/>
            <a:ext cx="8190167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FusionInventory</a:t>
            </a:r>
            <a:endParaRPr lang="en-US" sz="1140" dirty="0">
              <a:solidFill>
                <a:srgbClr val="00CC99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1512689"/>
            <a:ext cx="8190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6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Open-source, integrado com GLPI (mais completo para ITSM)</a:t>
            </a:r>
            <a:endParaRPr lang="en-US" sz="960" dirty="0"/>
          </a:p>
        </p:txBody>
      </p:sp>
      <p:sp>
        <p:nvSpPr>
          <p:cNvPr id="9" name="Text 6"/>
          <p:cNvSpPr/>
          <p:nvPr/>
        </p:nvSpPr>
        <p:spPr>
          <a:xfrm>
            <a:off x="571500" y="2242245"/>
            <a:ext cx="8190167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00CC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ManageEngine Asset Explorer</a:t>
            </a:r>
            <a:endParaRPr lang="en-US" sz="1140" dirty="0"/>
          </a:p>
        </p:txBody>
      </p:sp>
      <p:sp>
        <p:nvSpPr>
          <p:cNvPr id="10" name="Text 7"/>
          <p:cNvSpPr/>
          <p:nvPr/>
        </p:nvSpPr>
        <p:spPr>
          <a:xfrm>
            <a:off x="571500" y="2461617"/>
            <a:ext cx="8190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6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Pago, interface moderna, suporte profissional</a:t>
            </a:r>
            <a:endParaRPr lang="en-US" sz="960" dirty="0"/>
          </a:p>
        </p:txBody>
      </p:sp>
      <p:sp>
        <p:nvSpPr>
          <p:cNvPr id="11" name="Text 8"/>
          <p:cNvSpPr/>
          <p:nvPr/>
        </p:nvSpPr>
        <p:spPr>
          <a:xfrm>
            <a:off x="571500" y="3191173"/>
            <a:ext cx="8190167" cy="173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SolarWinds SAM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571500" y="3410545"/>
            <a:ext cx="81901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864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Solução empresarial, recursos avançados, alto custo</a:t>
            </a:r>
            <a:endParaRPr lang="en-US" sz="960" dirty="0"/>
          </a:p>
        </p:txBody>
      </p:sp>
      <p:pic>
        <p:nvPicPr>
          <p:cNvPr id="13" name="Picture 2" descr="Atec - Battery Cluster Portugal">
            <a:extLst>
              <a:ext uri="{FF2B5EF4-FFF2-40B4-BE49-F238E27FC236}">
                <a16:creationId xmlns:a16="http://schemas.microsoft.com/office/drawing/2014/main" id="{3A10B923-80A8-FF49-1861-FE008CB89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703" y="195942"/>
            <a:ext cx="1447311" cy="378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757</Words>
  <Application>Microsoft Office PowerPoint</Application>
  <PresentationFormat>On-screen Show (16:9)</PresentationFormat>
  <Paragraphs>150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Sam Trindade Ribeiro de Sousa</cp:lastModifiedBy>
  <cp:revision>22</cp:revision>
  <dcterms:created xsi:type="dcterms:W3CDTF">2026-01-27T08:36:07Z</dcterms:created>
  <dcterms:modified xsi:type="dcterms:W3CDTF">2026-01-28T14:10:54Z</dcterms:modified>
</cp:coreProperties>
</file>